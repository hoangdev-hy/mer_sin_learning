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91440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37160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37160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603504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603504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5577840"/>
            <a:ext cx="82296" cy="82296"/>
          </a:xfrm>
          <a:prstGeom prst="ellipse">
            <a:avLst/>
          </a:prstGeom>
          <a:solidFill>
            <a:srgbClr val="1B3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AI SERVER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4688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thức nền tảng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cần nắm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RESTful API, mô hình phân loại Naive Bayes, đến Docker hóa và vận hành production.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17720" y="5577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557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4846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777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giao tiếp giữa Client và Server qua HTTP.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57800" y="1261872"/>
            <a:ext cx="6400800" cy="0"/>
          </a:xfrm>
          <a:prstGeom prst="line">
            <a:avLst/>
          </a:prstGeom>
          <a:noFill/>
          <a:ln w="12700">
            <a:solidFill>
              <a:srgbClr val="1D2C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40817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13350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16276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Endpoint, Status Code và Error Handling.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57800" y="2112264"/>
            <a:ext cx="6400800" cy="0"/>
          </a:xfrm>
          <a:prstGeom prst="line">
            <a:avLst/>
          </a:prstGeom>
          <a:noFill/>
          <a:ln w="12700">
            <a:solidFill>
              <a:srgbClr val="1D2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258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77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1854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4780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phân loại dựa trên Prior, Likelihood, Posterior và Argmax.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57800" y="2962656"/>
            <a:ext cx="6400800" cy="0"/>
          </a:xfrm>
          <a:prstGeom prst="line">
            <a:avLst/>
          </a:prstGeom>
          <a:noFill/>
          <a:ln w="12700">
            <a:solidFill>
              <a:srgbClr val="1D2C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0358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3284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bị, làm sạch và kiểm tra dữ liệu đầu vào.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57800" y="3813048"/>
            <a:ext cx="6400800" cy="0"/>
          </a:xfrm>
          <a:prstGeom prst="line">
            <a:avLst/>
          </a:prstGeom>
          <a:noFill/>
          <a:ln w="12700">
            <a:solidFill>
              <a:srgbClr val="1D2C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9593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1772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38862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4178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ứng dụng, Model và Dependencies trong môi trường nhất quán.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257800" y="4663440"/>
            <a:ext cx="6400800" cy="0"/>
          </a:xfrm>
          <a:prstGeom prst="line">
            <a:avLst/>
          </a:prstGeom>
          <a:noFill/>
          <a:ln w="12700">
            <a:solidFill>
              <a:srgbClr val="1D2C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7720" y="48097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1772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257800" y="4736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từng thành phần và toàn bộ luồng hệ thống.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257800" y="5513832"/>
            <a:ext cx="6400800" cy="0"/>
          </a:xfrm>
          <a:prstGeom prst="line">
            <a:avLst/>
          </a:prstGeom>
          <a:noFill/>
          <a:ln w="12700">
            <a:solidFill>
              <a:srgbClr val="1D2C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56601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617720" y="5660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257800" y="558698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257800" y="58795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ổn định với Health Check, Logging, Security và Monitoring.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hệ thống AI Server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NỀN TẢNG GIAO TIẾP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 &amp; HTTP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6459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1284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gửi Request đến Server thông qua HTTP.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cung cấp chức năng thông qua các Endpoint.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và Response thường sử dụng định dạng JSON.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cần có quy ước rõ ràng về dữ liệu và Error Handling.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581912" cy="566928"/>
          </a:xfrm>
          <a:prstGeom prst="roundRect">
            <a:avLst>
              <a:gd name="adj" fmla="val 1290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41605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30552" y="4361688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2386584" y="4160520"/>
            <a:ext cx="1581912" cy="566928"/>
          </a:xfrm>
          <a:prstGeom prst="roundRect">
            <a:avLst>
              <a:gd name="adj" fmla="val 1290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41448" y="41605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68496" y="4361688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24528" y="4160520"/>
            <a:ext cx="1581912" cy="566928"/>
          </a:xfrm>
          <a:prstGeom prst="roundRect">
            <a:avLst>
              <a:gd name="adj" fmla="val 1290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79392" y="4160520"/>
            <a:ext cx="1472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Endpoint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Endpoint: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28800" y="4956048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0D2A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828800" y="4956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/api/v1/predict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74650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9944" y="164592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2084832"/>
            <a:ext cx="5394960" cy="347472"/>
          </a:xfrm>
          <a:prstGeom prst="roundRect">
            <a:avLst>
              <a:gd name="adj" fmla="val 13158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13055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2130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084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dữ liệu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505456"/>
            <a:ext cx="5394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55117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2551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25054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dữ liệu hoặc dự đoán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5394960" cy="347472"/>
          </a:xfrm>
          <a:prstGeom prst="roundRect">
            <a:avLst>
              <a:gd name="adj" fmla="val 13158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29718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 PATCH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09560" y="29260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dữ liệu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3346704"/>
            <a:ext cx="53949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339242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9360" y="33924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33467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dữ liệu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421538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9944" y="411480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 chính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2200" y="452628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2C39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172200" y="45262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4526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được xử lý thành công.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72200" y="4901184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7791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172200" y="49011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/ 422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360920" y="49011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Input không hợp lệ.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72200" y="527608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7791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72200" y="5276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360920" y="52760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tìm thấy Endpoint hoặc tài nguyên.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72200" y="565099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172200" y="56509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7360920" y="5650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Xảy ra lỗi trong Server.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72200" y="602589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172200" y="60258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503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7360920" y="60258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tạm thời không khả dụng.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&amp; HTTP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MÔ HÌNH PHÂN LOẠI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&amp; Tiền xử lý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69164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0D2A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031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 ∝ Prior × Likelihood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0449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826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ban đầu của mỗi lớp.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288036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30449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3931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2826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 phù hợp của Features với một lớp.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2793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Posterior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51713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cập nhật sau khi nhận Input.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411480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9312" y="42793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3931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Argmax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51713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 lớp có xác suất cao nhất.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17922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9984" y="16916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tổng quát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2240" y="2103120"/>
            <a:ext cx="1088136" cy="548640"/>
          </a:xfrm>
          <a:prstGeom prst="roundRect">
            <a:avLst>
              <a:gd name="adj" fmla="val 1333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47104" y="210312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0376" y="229514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7836408" y="2103120"/>
            <a:ext cx="1088136" cy="548640"/>
          </a:xfrm>
          <a:prstGeom prst="roundRect">
            <a:avLst>
              <a:gd name="adj" fmla="val 1333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91272" y="210312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24544" y="229514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7" name="Shape 35"/>
          <p:cNvSpPr/>
          <p:nvPr/>
        </p:nvSpPr>
        <p:spPr>
          <a:xfrm>
            <a:off x="9180576" y="2103120"/>
            <a:ext cx="1088136" cy="548640"/>
          </a:xfrm>
          <a:prstGeom prst="roundRect">
            <a:avLst>
              <a:gd name="adj" fmla="val 1333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35440" y="210312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68712" y="229514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24744" y="2103120"/>
            <a:ext cx="1088136" cy="548640"/>
          </a:xfrm>
          <a:prstGeom prst="roundRect">
            <a:avLst>
              <a:gd name="adj" fmla="val 13333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579608" y="210312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307238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29984" y="29718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Tiền xử lý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92240" y="3383280"/>
            <a:ext cx="5120640" cy="2514600"/>
          </a:xfrm>
          <a:prstGeom prst="roundRect">
            <a:avLst>
              <a:gd name="adj" fmla="val 3636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66560" y="3584448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dữ liệu thiếu, rỗng hoặc sai định dạng.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kiểu dữ liệu và cấu trúc Input.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đúng số lượng và định dạng Features.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chuyển dữ liệu hợp lệ đến Model.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Error phù hợp khi Input không hợp lệ.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&amp; Tiền xử lý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ĐÓNG GÓI &amp; VẬN HÀNH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Docker, Health Check &amp;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11A2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2971800" cy="0"/>
          </a:xfrm>
          <a:prstGeom prst="line">
            <a:avLst/>
          </a:prstGeom>
          <a:noFill/>
          <a:ln w="12700">
            <a:solidFill>
              <a:srgbClr val="2233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83464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API, AI Model và Dependencies.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môi trường chạy nhất quán giữa Local và Production.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hỗ trợ quản lý nhiều Service.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 triển khai, khởi động và dừng hệ thống theo cấu hình chung.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11A2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Check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0" y="2651760"/>
            <a:ext cx="2971800" cy="0"/>
          </a:xfrm>
          <a:prstGeom prst="line">
            <a:avLst/>
          </a:prstGeom>
          <a:noFill/>
          <a:ln w="12700">
            <a:solidFill>
              <a:srgbClr val="2233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0288" y="283464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Xác nhận Service vẫn đang hoạt động.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Xác nhận Service sẵn sàng nhận Request.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trạng thái API, Model và AI Service.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thông tin để phát hiện Service lỗi hoặc không khả dụng.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111A2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21040" y="2651760"/>
            <a:ext cx="2971800" cy="0"/>
          </a:xfrm>
          <a:prstGeom prst="line">
            <a:avLst/>
          </a:prstGeom>
          <a:noFill/>
          <a:ln w="12700">
            <a:solidFill>
              <a:srgbClr val="2233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9328" y="283464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HTTPS và Authentication phù hợp.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Secret thông qua biến môi trường.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Logs, Metrics và Health Status.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phương án Rollback khi triển khai không thành công.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Health Check &amp; Production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CHẤT LƯỢNG HỆ THỐNG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Debugging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691640"/>
            <a:ext cx="7077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loại kiểm thử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06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07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hành vi của từng hàm hoặc Module.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2860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93592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606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907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sự kết nối giữa API và AI.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103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55664" y="22860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5664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606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907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toàn bộ luồng từ Request đến Response.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34856" y="21031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17736" y="22860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17736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17736" y="26060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Test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17736" y="2907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Endpoint bằng Curl hoặc công cụ dòng lệnh.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8496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6384" y="3749040"/>
            <a:ext cx="7077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kiểm thử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1971446" cy="502920"/>
          </a:xfrm>
          <a:prstGeom prst="roundRect">
            <a:avLst>
              <a:gd name="adj" fmla="val 14545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3504" y="4160520"/>
            <a:ext cx="1861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20086" y="432968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2776118" y="4160520"/>
            <a:ext cx="1971446" cy="502920"/>
          </a:xfrm>
          <a:prstGeom prst="roundRect">
            <a:avLst>
              <a:gd name="adj" fmla="val 14545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830982" y="4160520"/>
            <a:ext cx="1861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47565" y="432968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5003597" y="4160520"/>
            <a:ext cx="1971446" cy="502920"/>
          </a:xfrm>
          <a:prstGeom prst="roundRect">
            <a:avLst>
              <a:gd name="adj" fmla="val 14545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58461" y="4160520"/>
            <a:ext cx="1861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75043" y="432968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7231075" y="4160520"/>
            <a:ext cx="1971446" cy="502920"/>
          </a:xfrm>
          <a:prstGeom prst="roundRect">
            <a:avLst>
              <a:gd name="adj" fmla="val 14545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85939" y="4160520"/>
            <a:ext cx="1861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202522" y="4329684"/>
            <a:ext cx="256032" cy="16459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9458554" y="4160520"/>
            <a:ext cx="1971446" cy="502920"/>
          </a:xfrm>
          <a:prstGeom prst="roundRect">
            <a:avLst>
              <a:gd name="adj" fmla="val 14545"/>
            </a:avLst>
          </a:prstGeom>
          <a:solidFill>
            <a:srgbClr val="0D2A32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13418" y="4160520"/>
            <a:ext cx="18617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49926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86384" y="4892040"/>
            <a:ext cx="10643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8640" y="5285232"/>
            <a:ext cx="5349240" cy="347472"/>
          </a:xfrm>
          <a:prstGeom prst="roundRect">
            <a:avLst>
              <a:gd name="adj" fmla="val 15789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" y="528523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Kiểm tra Status Code, Response và Logs.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80760" y="5285232"/>
            <a:ext cx="5349240" cy="347472"/>
          </a:xfrm>
          <a:prstGeom prst="roundRect">
            <a:avLst>
              <a:gd name="adj" fmla="val 15789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17920" y="528523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Kiểm tra Container, Port và Environment.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715000"/>
            <a:ext cx="5349240" cy="347472"/>
          </a:xfrm>
          <a:prstGeom prst="roundRect">
            <a:avLst>
              <a:gd name="adj" fmla="val 15789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" y="571500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Kiểm tra kết nối giữa các Service.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80760" y="5715000"/>
            <a:ext cx="5349240" cy="347472"/>
          </a:xfrm>
          <a:prstGeom prst="roundRect">
            <a:avLst>
              <a:gd name="adj" fmla="val 15789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17920" y="571500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Phân tích nguyên nhân của lỗi 400, 500 hoặc 503.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6144768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5800" y="61447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Xác nhận từng cấu phần trước khi kiểm tra toàn bộ hệ thống.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TRIỂN KHAI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Chiến lược Triển khai AI &amp; Tích hợp Máy chủ Cục bộ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2037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103120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400800" cy="3246120"/>
          </a:xfrm>
          <a:prstGeom prst="roundRect">
            <a:avLst>
              <a:gd name="adj" fmla="val 2817"/>
            </a:avLst>
          </a:prstGeom>
          <a:solidFill>
            <a:srgbClr val="111A2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432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70662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API Server và AI Server trong cùng một hệ thống.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0098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kiến trúc nhiều cấu phần với trách nhiệm rõ ràng.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89534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phát triển và kiểm thử độc lập từng thành phần.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52628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48970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hệ thống bằng Docker để thuận tiện triển khai.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1206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120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08406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nền tảng chuyển đổi từ Local lên Production.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2514600"/>
            <a:ext cx="4370832" cy="1371600"/>
          </a:xfrm>
          <a:prstGeom prst="roundRect">
            <a:avLst>
              <a:gd name="adj" fmla="val 6667"/>
            </a:avLst>
          </a:prstGeom>
          <a:solidFill>
            <a:srgbClr val="0D2A3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AI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971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269480" y="4123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07224" y="40233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hệ thống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69480" y="4434840"/>
            <a:ext cx="4370832" cy="329184"/>
          </a:xfrm>
          <a:prstGeom prst="roundRect">
            <a:avLst>
              <a:gd name="adj" fmla="val 16667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44348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409176" y="4764024"/>
            <a:ext cx="109728" cy="7315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9480" y="4892040"/>
            <a:ext cx="4370832" cy="329184"/>
          </a:xfrm>
          <a:prstGeom prst="roundRect">
            <a:avLst>
              <a:gd name="adj" fmla="val 16667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360" y="48920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09176" y="5221224"/>
            <a:ext cx="109728" cy="7315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7269480" y="5349240"/>
            <a:ext cx="4370832" cy="329184"/>
          </a:xfrm>
          <a:prstGeom prst="roundRect">
            <a:avLst>
              <a:gd name="adj" fmla="val 16667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52360" y="53492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09176" y="5678424"/>
            <a:ext cx="109728" cy="7315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7269480" y="5806440"/>
            <a:ext cx="4370832" cy="329184"/>
          </a:xfrm>
          <a:prstGeom prst="roundRect">
            <a:avLst>
              <a:gd name="adj" fmla="val 16667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360" y="5806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409176" y="6135624"/>
            <a:ext cx="109728" cy="73152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7269480" y="6263640"/>
            <a:ext cx="4370832" cy="329184"/>
          </a:xfrm>
          <a:prstGeom prst="roundRect">
            <a:avLst>
              <a:gd name="adj" fmla="val 16667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52360" y="62636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Triển khai AI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Sơ đồ cấu phần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6126480" cy="603504"/>
          </a:xfrm>
          <a:prstGeom prst="roundRect">
            <a:avLst>
              <a:gd name="adj" fmla="val 12121"/>
            </a:avLst>
          </a:prstGeom>
          <a:solidFill>
            <a:srgbClr val="16223A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95144"/>
            <a:ext cx="402336" cy="402336"/>
          </a:xfrm>
          <a:prstGeom prst="ellipse">
            <a:avLst/>
          </a:prstGeom>
          <a:solidFill>
            <a:srgbClr val="1622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0545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và gửi Request đến hệ thống.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7872" y="2798064"/>
            <a:ext cx="128016" cy="8229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21508"/>
            <a:ext cx="6126480" cy="603504"/>
          </a:xfrm>
          <a:prstGeom prst="roundRect">
            <a:avLst>
              <a:gd name="adj" fmla="val 12121"/>
            </a:avLst>
          </a:prstGeom>
          <a:solidFill>
            <a:srgbClr val="0D2A3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0220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02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9763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Server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23240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Request, điều phối xử lý và trả Response.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3525012"/>
            <a:ext cx="128016" cy="8229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648456"/>
            <a:ext cx="6126480" cy="603504"/>
          </a:xfrm>
          <a:prstGeom prst="roundRect">
            <a:avLst>
              <a:gd name="adj" fmla="val 12121"/>
            </a:avLst>
          </a:prstGeom>
          <a:solidFill>
            <a:srgbClr val="0D2A3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74904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95935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sạch, chuẩn hóa và xác thực dữ liệu.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47872" y="4251960"/>
            <a:ext cx="128016" cy="8229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75404"/>
            <a:ext cx="6126480" cy="603504"/>
          </a:xfrm>
          <a:prstGeom prst="roundRect">
            <a:avLst>
              <a:gd name="adj" fmla="val 12121"/>
            </a:avLst>
          </a:prstGeom>
          <a:solidFill>
            <a:srgbClr val="0D2A3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47598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44759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4302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Server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6863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chức năng huấn luyện và dự đoán.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47872" y="4978908"/>
            <a:ext cx="128016" cy="82296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102352"/>
            <a:ext cx="6126480" cy="603504"/>
          </a:xfrm>
          <a:prstGeom prst="roundRect">
            <a:avLst>
              <a:gd name="adj" fmla="val 12121"/>
            </a:avLst>
          </a:prstGeom>
          <a:solidFill>
            <a:srgbClr val="16223A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5202936"/>
            <a:ext cx="402336" cy="402336"/>
          </a:xfrm>
          <a:prstGeom prst="ellipse">
            <a:avLst/>
          </a:prstGeom>
          <a:solidFill>
            <a:srgbClr val="16223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5202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5157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541324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môi trường, Container và Dependencies.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95160" y="18379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232904" y="173736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Lợi ích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95160" y="2148840"/>
            <a:ext cx="4663440" cy="4023360"/>
          </a:xfrm>
          <a:prstGeom prst="roundRect">
            <a:avLst>
              <a:gd name="adj" fmla="val 2273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24231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2237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754112" y="2368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trách nhiệm giữa các cấu phần.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23760" y="317296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22376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754112" y="311810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phát triển, kiểm thử và bảo trì.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223760" y="39227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22376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54112" y="386791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xác định vị trí phát sinh lỗi.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23760" y="467258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22376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754112" y="46177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mở rộng hoặc thay đổi từng Service.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223760" y="54223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22376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7754112" y="53675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triển khai nhất quán giữa Local và Production.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· BƯỚC 1–2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và Kiểm thử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Design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Endpoint cho chức năng dự đoán.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tách rõ Input, Preprocessing, Model và Response.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cách các Component giao tiếp với nhau.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từng thành phần trước khi tích hợp toàn bộ.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709160"/>
            <a:ext cx="4754880" cy="0"/>
          </a:xfrm>
          <a:prstGeom prst="line">
            <a:avLst/>
          </a:prstGeom>
          <a:noFill/>
          <a:ln w="12700">
            <a:solidFill>
              <a:srgbClr val="E1E9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846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tâm: tách trách nhiệm rõ ràng giữa các Component trước khi ghép nối toàn hệ thống.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0D2A3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967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251192" y="2084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Testing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7889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Input dạng JSON, File hoặc String.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cấu trúc, kiểu dữ liệu và giá trị Input.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dữ liệu trước khi gọi Model.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Endpoint bằng CLI/Curl.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Response và Status Code 200 OK khi xử lý thành công.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65392" y="51663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65392" y="5166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&amp; 2 · Thiết kế và Kiểm thử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· BƯỚC 3–4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 →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11A2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3063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Dataset phục vụ huấn luyện.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toán Prior và Likelihood.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các tham số cần thiết của Model.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khả năng sử dụng Model sau khi Training.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0D2A3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17720" y="263347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26334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4476" y="2980944"/>
            <a:ext cx="109728" cy="6400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304495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94476" y="3392424"/>
            <a:ext cx="109728" cy="6400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34564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34564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94476" y="3803904"/>
            <a:ext cx="109728" cy="6400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7720" y="386791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38679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Argmax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94476" y="4215384"/>
            <a:ext cx="109728" cy="64008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427939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6223A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42793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64024"/>
            <a:ext cx="30632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dữ liệu từ API.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Posterior cho các lớp.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Argmax để chọn Prediction.</a:t>
            </a:r>
            <a:endParaRPr lang="en-US" sz="9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kết quả và Probability về API.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138160" y="173736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11A2C"/>
          </a:solidFill>
          <a:ln w="12700">
            <a:solidFill>
              <a:srgbClr val="2233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19933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Production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2606040"/>
            <a:ext cx="3063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API, Model và Dependencies.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các Service bằng Docker Compose.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Health Check cho hệ thống.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trong môi trường Container.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từ Local lên Production theo cấu hình thống nhất.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 &amp; 4 · AI Integration → Production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Response &amp; Kiểm thử CLI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922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69164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Response mẫu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0D1B2A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31136"/>
            <a:ext cx="471830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"naive_bayes",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"model_version": "1.0.0",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"prediction": "class_1",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"probability": 0.87,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"health_status": "healthy"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315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8463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cần xác nhận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9379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khởi động thành công.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trả về trạng thái phù hợp.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được Preprocessing chính xác.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trả về Prediction và Probability.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✓"/>
            </a:pPr>
            <a:r>
              <a:rPr lang="en-US" sz="1000" dirty="0">
                <a:solidFill>
                  <a:srgbClr val="C7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có cấu trúc và Status Code đúng.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7922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27064" y="1691640"/>
            <a:ext cx="538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Khởi chạy &amp; Kiểm thử hệ thống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2103120"/>
            <a:ext cx="562356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90488" y="2231136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3063240"/>
            <a:ext cx="562356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0488" y="3191256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http://localhost:3000/health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402336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0488" y="4151376"/>
            <a:ext cx="52212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http://localhost:3000/api/v1/predict \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'{"features":["feature_1","feature_2"]}'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hệ thống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5486400"/>
            <a:ext cx="5623560" cy="566928"/>
          </a:xfrm>
          <a:prstGeom prst="roundRect">
            <a:avLst>
              <a:gd name="adj" fmla="val 12903"/>
            </a:avLst>
          </a:prstGeom>
          <a:solidFill>
            <a:srgbClr val="0D1B2A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90488" y="5614416"/>
            <a:ext cx="5221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E8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down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&amp; Kiểm thử CLI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BÀN GIAO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 chí Đánh giá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737360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Thang điểm (Tổng 100)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tách cấu phần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249424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249424"/>
            <a:ext cx="226314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945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968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 và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651760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651760"/>
            <a:ext cx="226314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5968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992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054096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054096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29992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015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và Container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456432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3456432"/>
            <a:ext cx="226314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34015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0390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và Production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858768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858768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380390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062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và Debugging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4261104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4261104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42062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6085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và cấu hình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4663440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4663440"/>
            <a:ext cx="75438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460857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0109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Ownership và tài liệu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5065776"/>
            <a:ext cx="3017520" cy="219456"/>
          </a:xfrm>
          <a:prstGeom prst="roundRect">
            <a:avLst>
              <a:gd name="adj" fmla="val 16667"/>
            </a:avLst>
          </a:prstGeom>
          <a:solidFill>
            <a:srgbClr val="F1F5F8"/>
          </a:solidFill>
          <a:ln w="9525">
            <a:solidFill>
              <a:srgbClr val="E1E9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29000" y="5065776"/>
            <a:ext cx="1508760" cy="219456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0" y="5010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486400"/>
            <a:ext cx="6492240" cy="457200"/>
          </a:xfrm>
          <a:prstGeom prst="roundRect">
            <a:avLst>
              <a:gd name="adj" fmla="val 12000"/>
            </a:avLst>
          </a:prstGeom>
          <a:solidFill>
            <a:srgbClr val="0D2A3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852160" y="5486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60920" y="183794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598664" y="173736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Hồ sơ bàn giao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60920" y="2148840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F1F5F8"/>
          </a:solidFill>
          <a:ln w="12700">
            <a:solidFill>
              <a:srgbClr val="E1E9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3800" y="23500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543800" y="2350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845552" y="23042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/ Git.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7543800" y="27111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543800" y="27111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845552" y="266547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/ Docker Compose.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7543800" y="307238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543800" y="30723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845552" y="30266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và Dataset mẫu.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7543800" y="34335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543800" y="34335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845552" y="338785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API và hướng dẫn cài đặt.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7543800" y="37947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543800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45552" y="374904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cấu hình môi trường mẫu.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7543800" y="41559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543800" y="41559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845552" y="411022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Test, Integration Test và CLI Script.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7543800" y="45171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543800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7845552" y="447141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Health Check.</a:t>
            </a:r>
            <a:endParaRPr lang="en-US" sz="1080" dirty="0"/>
          </a:p>
        </p:txBody>
      </p:sp>
      <p:sp>
        <p:nvSpPr>
          <p:cNvPr id="66" name="Shape 64"/>
          <p:cNvSpPr/>
          <p:nvPr/>
        </p:nvSpPr>
        <p:spPr>
          <a:xfrm>
            <a:off x="7543800" y="48783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7543800" y="48783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845552" y="48326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ảnh hoặc Video minh chứng.</a:t>
            </a:r>
            <a:endParaRPr lang="en-US" sz="1080" dirty="0"/>
          </a:p>
        </p:txBody>
      </p:sp>
      <p:sp>
        <p:nvSpPr>
          <p:cNvPr id="69" name="Shape 67"/>
          <p:cNvSpPr/>
          <p:nvPr/>
        </p:nvSpPr>
        <p:spPr>
          <a:xfrm>
            <a:off x="7543800" y="52395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54380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7845552" y="519379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đánh giá Model và kết quả kiểm thử.</a:t>
            </a:r>
            <a:endParaRPr lang="en-US" sz="1080" dirty="0"/>
          </a:p>
        </p:txBody>
      </p:sp>
      <p:sp>
        <p:nvSpPr>
          <p:cNvPr id="72" name="Shape 70"/>
          <p:cNvSpPr/>
          <p:nvPr/>
        </p:nvSpPr>
        <p:spPr>
          <a:xfrm>
            <a:off x="7543800" y="56007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543800" y="56007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7845552" y="555498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2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cách triển khai từ Local lên Production.</a:t>
            </a:r>
            <a:endParaRPr lang="en-US" sz="1080" dirty="0"/>
          </a:p>
        </p:txBody>
      </p:sp>
      <p:sp>
        <p:nvSpPr>
          <p:cNvPr id="75" name="Text 7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Đánh giá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2026-09-10T01:35:34Z</dcterms:created>
  <dcterms:modified xsi:type="dcterms:W3CDTF">2026-09-10T01:35:34Z</dcterms:modified>
</cp:coreProperties>
</file>